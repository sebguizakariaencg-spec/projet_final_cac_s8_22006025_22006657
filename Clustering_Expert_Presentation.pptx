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6576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18872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201168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283464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365760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36576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18872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01168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283464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365760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6576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118872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201168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283464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365760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36576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118872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201168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283464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365760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36576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18872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201168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283464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365760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36576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01000" y="118872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0" y="201168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1000" y="283464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365760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36576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0" y="118872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201168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283464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65760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23960" y="36576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23960" y="118872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23960" y="201168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23960" y="283464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3960" y="3657600"/>
            <a:ext cx="73152" cy="7315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960120"/>
            <a:ext cx="5303520" cy="2651760"/>
          </a:xfrm>
          <a:prstGeom prst="rect">
            <a:avLst/>
          </a:prstGeom>
          <a:solidFill>
            <a:srgbClr val="122840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1097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DE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5800" y="157276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4800" dirty="0"/>
          </a:p>
        </p:txBody>
      </p:sp>
      <p:sp>
        <p:nvSpPr>
          <p:cNvPr id="46" name="Text 44"/>
          <p:cNvSpPr/>
          <p:nvPr/>
        </p:nvSpPr>
        <p:spPr>
          <a:xfrm>
            <a:off x="685800" y="2514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Pratique Expert en Machine Learning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0292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12 Algorithmes  </a:t>
            </a:r>
            <a:pPr indent="0" marL="0">
              <a:buNone/>
            </a:pPr>
            <a:r>
              <a:rPr lang="en-US" sz="11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Iris · Wine · Digits  </a:t>
            </a:r>
            <a:pPr indent="0" marL="0">
              <a:buNone/>
            </a:pPr>
            <a:r>
              <a:rPr lang="en-US" sz="11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Mars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DES MATIÈRES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57200" cy="384048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87782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données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0698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PCA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57200" cy="384048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4721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Partitionnement : K-Means, K-Medoids, K-Medians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66420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WCSS, Manhattan, médoïdes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457200" cy="384048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57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06654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Densité : DBSCAN, HDBSCAN, OPTICS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25856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bruit, ε, MinPts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457200" cy="384048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517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66090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&amp; Probabiliste : HAC, GMM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8529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linkage, BIC/AIC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457200" cy="384048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46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25526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Graphes &amp; Messagerie : Spectral, Affinity Prop.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4472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Laplacien, exemplaires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840480"/>
            <a:ext cx="457200" cy="384048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840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84962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&amp; Réduction : SOM, UMAP + K-Means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0416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U-Matrix, manifold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434840"/>
            <a:ext cx="457200" cy="384048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34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44439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globale &amp; Recommandations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63600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décision experte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DONNÉES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554480"/>
          </a:xfrm>
          <a:prstGeom prst="rect">
            <a:avLst/>
          </a:prstGeom>
          <a:solidFill>
            <a:srgbClr val="122840"/>
          </a:solidFill>
          <a:ln w="25400">
            <a:solidFill>
              <a:srgbClr val="21AF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347472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× 4
</a:t>
            </a:r>
            <a:pPr indent="0" marL="0">
              <a:buNone/>
            </a:pPr>
            <a:r>
              <a:rPr lang="en-US" sz="11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espèces
</a:t>
            </a:r>
            <a:pPr indent="0" marL="0">
              <a:buNone/>
            </a:pPr>
            <a:r>
              <a:rPr lang="en-US" sz="1000" i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DBSCAN, HAC…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1554480"/>
          </a:xfrm>
          <a:prstGeom prst="rect">
            <a:avLst/>
          </a:prstGeom>
          <a:solidFill>
            <a:srgbClr val="122840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822960"/>
            <a:ext cx="274320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22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2344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× 13
</a:t>
            </a:r>
            <a:pPr indent="0" marL="0">
              <a:buNone/>
            </a:pPr>
            <a:r>
              <a:rPr lang="en-US" sz="11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vins
</a:t>
            </a:r>
            <a:pPr indent="0" marL="0">
              <a:buNone/>
            </a:pPr>
            <a:r>
              <a:rPr lang="en-US" sz="10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GMM, SOM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1554480"/>
          </a:xfrm>
          <a:prstGeom prst="rect">
            <a:avLst/>
          </a:prstGeom>
          <a:solidFill>
            <a:srgbClr val="122840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822960"/>
            <a:ext cx="2743200" cy="3474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822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2344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1797 × 64
</a:t>
            </a:r>
            <a:pPr indent="0" marL="0">
              <a:buNone/>
            </a:pPr>
            <a:r>
              <a:rPr lang="en-US" sz="11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chiffres
</a:t>
            </a:r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SOM, UMAP + K-Means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2468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TRAITEMENT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" y="2880360"/>
            <a:ext cx="1554480" cy="822960"/>
          </a:xfrm>
          <a:prstGeom prst="rect">
            <a:avLst/>
          </a:prstGeom>
          <a:solidFill>
            <a:srgbClr val="122840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880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load_iris()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37360" y="3227832"/>
            <a:ext cx="228600" cy="54864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5960" y="2880360"/>
            <a:ext cx="1554480" cy="822960"/>
          </a:xfrm>
          <a:prstGeom prst="rect">
            <a:avLst/>
          </a:prstGeom>
          <a:solidFill>
            <a:srgbClr val="1228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2880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moyenne=0, σ=1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20440" y="3227832"/>
            <a:ext cx="2286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2880360"/>
            <a:ext cx="1554480" cy="822960"/>
          </a:xfrm>
          <a:prstGeom prst="rect">
            <a:avLst/>
          </a:prstGeom>
          <a:solidFill>
            <a:srgbClr val="1228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2880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2D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3227832"/>
            <a:ext cx="2286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32120" y="2880360"/>
            <a:ext cx="1554480" cy="822960"/>
          </a:xfrm>
          <a:prstGeom prst="rect">
            <a:avLst/>
          </a:prstGeom>
          <a:solidFill>
            <a:srgbClr val="1228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2880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Clustering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86600" y="3227832"/>
            <a:ext cx="228600" cy="54864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2880360"/>
            <a:ext cx="1554480" cy="822960"/>
          </a:xfrm>
          <a:prstGeom prst="rect">
            <a:avLst/>
          </a:prstGeom>
          <a:solidFill>
            <a:srgbClr val="1228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2880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/ ARI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840480"/>
            <a:ext cx="859536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587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Un objet PCA DISTINCT est utilisé par dataset (dimensions différentes : 4, 13, 64 features). Les centroïdes sont projetés via pca.transform() pour cohérence visuelle.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K-MEANS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la somme des variances intra-cluster (WCSS) 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50292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A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WCSS = Σ Σ ||x − μᵢ||²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292608" cy="292608"/>
          </a:xfrm>
          <a:prstGeom prst="ellipse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Initialiser k centroïdes  (k-means++)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496312"/>
            <a:ext cx="292608" cy="292608"/>
          </a:xfrm>
          <a:prstGeom prst="ellipse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328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Assigner chaque point au centroïde le plus proche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99232"/>
            <a:ext cx="292608" cy="292608"/>
          </a:xfrm>
          <a:prstGeom prst="ellipse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0358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Recalculer les centroïdes (moyenne des clusters)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502152"/>
            <a:ext cx="292608" cy="292608"/>
          </a:xfrm>
          <a:prstGeom prst="ellipse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5387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Répéter jusqu'à convergence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069080"/>
            <a:ext cx="502920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: O(n × k × t × d)   |   Hypothèses : clusters sphériques &amp; isotropes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0" y="804672"/>
            <a:ext cx="3383280" cy="1280160"/>
          </a:xfrm>
          <a:prstGeom prst="rect">
            <a:avLst/>
          </a:prstGeom>
          <a:solidFill>
            <a:srgbClr val="122840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850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Dataset Iris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1170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89520" y="1170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77840" y="14264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 (k=3)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89520" y="1399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~139.82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77840" y="16824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89520" y="1627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0" y="2194560"/>
            <a:ext cx="3383280" cy="1417320"/>
          </a:xfrm>
          <a:prstGeom prst="rect">
            <a:avLst/>
          </a:prstGeom>
          <a:solidFill>
            <a:srgbClr val="1228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25603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n_clusters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86600" y="25603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à spécifier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77840" y="2862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n_init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86600" y="28620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réinits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77840" y="31638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086600" y="31638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0" y="3703320"/>
            <a:ext cx="3383280" cy="868680"/>
          </a:xfrm>
          <a:prstGeom prst="rect">
            <a:avLst/>
          </a:prstGeom>
          <a:solidFill>
            <a:srgbClr val="1228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3749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Rapide, scalable
</a:t>
            </a:r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k requis, sensible outliers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K-MEDOIDS (PAM)  &amp;  K-MEDIANS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3977640"/>
          </a:xfrm>
          <a:prstGeom prst="rect">
            <a:avLst/>
          </a:prstGeom>
          <a:solidFill>
            <a:srgbClr val="122840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K-Medoids (PAM)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= points réels du dataset
</a:t>
            </a:r>
            <a:pPr indent="0" marL="0">
              <a:buNone/>
            </a:pPr>
            <a:r>
              <a:rPr lang="en-US" sz="10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Minimise la distance L1 (Manhattan) :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384048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coût = Σ d(x, mᵢ)  avec  mᵢ ∈ 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606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Très robuste aux outliers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880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Toute distance (Gower, etc.)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154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Centres = vrais individus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474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703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O(k(n−k)²) — lent sur N&gt;10k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977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Moins adapté aux hautes dim.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777240"/>
            <a:ext cx="4114800" cy="3977640"/>
          </a:xfrm>
          <a:prstGeom prst="rect">
            <a:avLst/>
          </a:prstGeom>
          <a:solidFill>
            <a:srgbClr val="122840"/>
          </a:solidFill>
          <a:ln w="25400">
            <a:solidFill>
              <a:srgbClr val="00D4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K-Medians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188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= médiane par dimension
</a:t>
            </a:r>
            <a:pPr indent="0" marL="0">
              <a:buNone/>
            </a:pPr>
            <a:r>
              <a:rPr lang="en-US" sz="10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Distance de Manhattan (L1) :
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1874520"/>
            <a:ext cx="384048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centre = median(Ci)  [L1]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: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651760"/>
          <a:ext cx="3840480" cy="178308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5544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K-Med(oid/ian)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réel / Médiane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O(nkt)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DBSCAN  &amp;  HDBSCAN — Clustering par Densité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est cœur si ≥ MinPts voisins dans rayon ε. Les points non joignables = bruit (−1).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1005840" cy="347472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64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709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MinPts voisins dans ε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139696"/>
            <a:ext cx="100584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396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0" y="21854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Voisin d'un cœur, &lt;MinPts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615184"/>
            <a:ext cx="1005840" cy="3474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151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2660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Isolé, label = −1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46120"/>
            <a:ext cx="41148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eps=0.7, min_samples=4  →  Silhouette ≈ 0.50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 (version hiérarchique)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une hiérarchie de densité. Extrait les clusters stables sans paramètre ε.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664208"/>
            <a:ext cx="274320" cy="347472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66420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20640" y="1709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distances cœur mutuelles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139696"/>
            <a:ext cx="274320" cy="347472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13969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20640" y="21854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couvrant minimum pondéré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615184"/>
            <a:ext cx="274320" cy="347472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61518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0" y="2660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Dendrogramme de condensation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090672"/>
            <a:ext cx="274320" cy="347472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09067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0" y="3136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des clusters stables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246120"/>
            <a:ext cx="41148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A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min_cluster_size=10  →  Pas de ε requis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3794760"/>
            <a:ext cx="8595360" cy="914400"/>
          </a:xfrm>
          <a:prstGeom prst="rect">
            <a:avLst/>
          </a:prstGeom>
          <a:solidFill>
            <a:srgbClr val="1228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utiliser 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1330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</a:t>
            </a:r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Données 2D/3D, ε estimable via k-distance plot  |  </a:t>
            </a:r>
            <a:pPr indent="0" marL="0">
              <a:buNone/>
            </a:pPr>
            <a:r>
              <a:rPr lang="en-US" sz="10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</a:t>
            </a:r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Densités variables, k inconnu, résultats plus stables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OPTICS — Ordering Points To Identify Clustering 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de DBSCAN qui gère les clusters de densités variables sans fixer ε.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261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clés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73152" cy="457200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cœur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au MinPts-ième voisin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73152" cy="457200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max(dist_cœur(o), d(o,p))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73152" cy="457200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80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Plot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Vallées = clusters, crêtes = bruit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73152" cy="457200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 ξ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variation pour extraire clusters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1261872"/>
            <a:ext cx="4114800" cy="2926080"/>
          </a:xfrm>
          <a:prstGeom prst="rect">
            <a:avLst/>
          </a:prstGeom>
          <a:solidFill>
            <a:srgbClr val="1228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Plot — Lecture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103120"/>
            <a:ext cx="201168" cy="181051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8072" y="2907792"/>
            <a:ext cx="201168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04104" y="3511296"/>
            <a:ext cx="201168" cy="402336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0136" y="3611880"/>
            <a:ext cx="201168" cy="301752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16168" y="3511296"/>
            <a:ext cx="201168" cy="402336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551530"/>
            <a:ext cx="201168" cy="362102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28232" y="2505456"/>
            <a:ext cx="201168" cy="14081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84264" y="3410712"/>
            <a:ext cx="20116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0296" y="3611880"/>
            <a:ext cx="201168" cy="3017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96328" y="3511296"/>
            <a:ext cx="201168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2103120"/>
            <a:ext cx="201168" cy="181051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08392" y="3310128"/>
            <a:ext cx="201168" cy="60350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64424" y="3672230"/>
            <a:ext cx="201168" cy="24140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0456" y="3712464"/>
            <a:ext cx="201168" cy="2011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76488" y="2304288"/>
            <a:ext cx="201168" cy="160934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3913632"/>
            <a:ext cx="3840480" cy="27432"/>
          </a:xfrm>
          <a:prstGeom prst="rect">
            <a:avLst/>
          </a:prstGeom>
          <a:solidFill>
            <a:srgbClr val="7EA8BE"/>
          </a:solidFill>
          <a:ln w="12700">
            <a:solidFill>
              <a:srgbClr val="7EA8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9776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 </a:t>
            </a:r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 </a:t>
            </a:r>
            <a:pPr indent="0" marL="0">
              <a:buNone/>
            </a:pPr>
            <a:r>
              <a:rPr lang="en-US" sz="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 </a:t>
            </a:r>
            <a:pPr indent="0" marL="0">
              <a:buNone/>
            </a:pPr>
            <a:r>
              <a:rPr lang="en-US" sz="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793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 min_samples=10, xi=0.05, min_cluster_size=0.05  |  Avantage principal : densités variables sans régler ε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HAC (Ward)  &amp;  Gaussian Mixture Models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Hiérarchique Agglomératif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Fusionne progressivement les points les plus proches en dendrogramme.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de linkage 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810512"/>
            <a:ext cx="1005840" cy="320040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105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8470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variance intra (meilleur)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1005840" cy="320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219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2258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max entre points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633472"/>
            <a:ext cx="1005840" cy="320040"/>
          </a:xfrm>
          <a:prstGeom prst="rect">
            <a:avLst/>
          </a:prstGeom>
          <a:solidFill>
            <a:srgbClr val="7EA8BE"/>
          </a:solidFill>
          <a:ln w="12700">
            <a:solidFill>
              <a:srgbClr val="7EA8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334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0" y="26700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min (chainé)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044952"/>
            <a:ext cx="100584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44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3081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moyenne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41148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749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A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 Ward → Silhouette ≈ 0.48  (meilleur sur Iris)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1155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probabiliste : chaque point appartient partiellement à chaque cluster (soft clustering).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627632"/>
            <a:ext cx="41148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62763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Σ πₖ N(x | μₖ, Σₖ)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2194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covariance 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468880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24963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80760" y="24963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Ellipses libres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834640"/>
            <a:ext cx="256032" cy="256032"/>
          </a:xfrm>
          <a:prstGeom prst="ellipse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2862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80760" y="2862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Ellipses axiales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200400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3227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80760" y="32278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Ellipses identiques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566160"/>
            <a:ext cx="256032" cy="256032"/>
          </a:xfrm>
          <a:prstGeom prst="ellipse">
            <a:avLst/>
          </a:prstGeom>
          <a:solidFill>
            <a:srgbClr val="7EA8BE"/>
          </a:solidFill>
          <a:ln w="12700">
            <a:solidFill>
              <a:srgbClr val="7EA8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3593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spherical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80760" y="35935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K-Means proba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749040"/>
            <a:ext cx="41148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749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: BIC / AIC minimisés  |  Silhouette ≈ 0.28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343400"/>
            <a:ext cx="8595360" cy="548640"/>
          </a:xfrm>
          <a:prstGeom prst="rect">
            <a:avLst/>
          </a:prstGeom>
          <a:solidFill>
            <a:srgbClr val="1228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70832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 : pas besoin de k a priori (visible dans le dendrogramme) · GMM : révèle la structure probabiliste des données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Spectral Clustering  &amp;  Affinity Propagation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Clustering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124712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 sur la théorie spectrale des graphes.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Matrice d'affinité (k-NN)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Calcul du Laplacien 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Vecteurs propres → espace bas-dim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K-Means dans cet espace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2377440"/>
            <a:ext cx="411480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377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A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affinity='nearest_neighbors', n_neighbors=10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28803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Formes non-convexes, lunes, cercles
</a:t>
            </a:r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Préserve la topologie
</a:t>
            </a:r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O(N³) — non scalable
</a:t>
            </a:r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doit être spécifié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069080"/>
            <a:ext cx="41148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A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Silhouette ≈ 0.44  |  ARI ≈ 0.60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Propagation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124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itératifs entre points jusqu'à élection d'exemplaires représentatifs.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664208"/>
            <a:ext cx="4114800" cy="548640"/>
          </a:xfrm>
          <a:prstGeom prst="rect">
            <a:avLst/>
          </a:prstGeom>
          <a:solidFill>
            <a:srgbClr val="1228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7099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 r(i,k)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 point k est adapté à être exemplaire de i 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114800" cy="548640"/>
          </a:xfrm>
          <a:prstGeom prst="rect">
            <a:avLst/>
          </a:prstGeom>
          <a:solidFill>
            <a:srgbClr val="122840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3317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a(i,k)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25420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 point i devrait choisir k comme exemplaire 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1480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971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damping=0.8  →  k auto détecté (≈ 7-9 sur Iris)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349300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déterminé automatiquement
</a:t>
            </a:r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Exemplaires = points réels
</a:t>
            </a:r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— lent
</a:t>
            </a:r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Sur-segmentation fréquente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Self-Organizing Maps  &amp;  UMAP + K-Means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Self-Organizing Maps (Kohonen)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neurones non-supervisé projetant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haute dimension sur grille 2D.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658368" cy="402336"/>
          </a:xfrm>
          <a:prstGeom prst="rect">
            <a:avLst/>
          </a:prstGeom>
          <a:solidFill>
            <a:srgbClr val="0A25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719072"/>
            <a:ext cx="658368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1719072"/>
            <a:ext cx="658368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719072"/>
            <a:ext cx="658368" cy="402336"/>
          </a:xfrm>
          <a:prstGeom prst="rect">
            <a:avLst/>
          </a:prstGeom>
          <a:solidFill>
            <a:srgbClr val="21AFA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719072"/>
            <a:ext cx="658368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94560"/>
            <a:ext cx="658368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194560"/>
            <a:ext cx="658368" cy="402336"/>
          </a:xfrm>
          <a:prstGeom prst="rect">
            <a:avLst/>
          </a:prstGeom>
          <a:solidFill>
            <a:srgbClr val="21AFA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2194560"/>
            <a:ext cx="658368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194560"/>
            <a:ext cx="658368" cy="402336"/>
          </a:xfrm>
          <a:prstGeom prst="rect">
            <a:avLst/>
          </a:prstGeom>
          <a:solidFill>
            <a:srgbClr val="0A25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2194560"/>
            <a:ext cx="658368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670048"/>
            <a:ext cx="658368" cy="402336"/>
          </a:xfrm>
          <a:prstGeom prst="rect">
            <a:avLst/>
          </a:prstGeom>
          <a:solidFill>
            <a:srgbClr val="21AFA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670048"/>
            <a:ext cx="658368" cy="402336"/>
          </a:xfrm>
          <a:prstGeom prst="rect">
            <a:avLst/>
          </a:prstGeom>
          <a:solidFill>
            <a:srgbClr val="21AFA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83080" y="2670048"/>
            <a:ext cx="658368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2670048"/>
            <a:ext cx="658368" cy="402336"/>
          </a:xfrm>
          <a:prstGeom prst="rect">
            <a:avLst/>
          </a:prstGeom>
          <a:solidFill>
            <a:srgbClr val="0A25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670048"/>
            <a:ext cx="658368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45536"/>
            <a:ext cx="658368" cy="402336"/>
          </a:xfrm>
          <a:prstGeom prst="rect">
            <a:avLst/>
          </a:prstGeom>
          <a:solidFill>
            <a:srgbClr val="21AFA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3145536"/>
            <a:ext cx="658368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3145536"/>
            <a:ext cx="658368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3145536"/>
            <a:ext cx="658368" cy="402336"/>
          </a:xfrm>
          <a:prstGeom prst="rect">
            <a:avLst/>
          </a:prstGeom>
          <a:solidFill>
            <a:srgbClr val="0A25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3145536"/>
            <a:ext cx="658368" cy="402336"/>
          </a:xfrm>
          <a:prstGeom prst="rect">
            <a:avLst/>
          </a:prstGeom>
          <a:solidFill>
            <a:srgbClr val="21AFA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621024"/>
            <a:ext cx="658368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1560" y="3621024"/>
            <a:ext cx="658368" cy="402336"/>
          </a:xfrm>
          <a:prstGeom prst="rect">
            <a:avLst/>
          </a:prstGeom>
          <a:solidFill>
            <a:srgbClr val="0A25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83080" y="3621024"/>
            <a:ext cx="658368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3621024"/>
            <a:ext cx="658368" cy="402336"/>
          </a:xfrm>
          <a:prstGeom prst="rect">
            <a:avLst/>
          </a:prstGeom>
          <a:solidFill>
            <a:srgbClr val="21AFA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3621024"/>
            <a:ext cx="658368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2245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U-Matrix — Zones sombres = frontières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claires = clusters denses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+ K-Means (Standard Moderne)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11155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manifold non-linéaire 64D → 2D,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K-Means dans l'espace apaisé.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1737360"/>
            <a:ext cx="1280160" cy="548640"/>
          </a:xfrm>
          <a:prstGeom prst="rect">
            <a:avLst/>
          </a:prstGeom>
          <a:solidFill>
            <a:srgbClr val="1228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285232" y="2331720"/>
            <a:ext cx="36576" cy="137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2423160"/>
            <a:ext cx="1280160" cy="548640"/>
          </a:xfrm>
          <a:prstGeom prst="rect">
            <a:avLst/>
          </a:prstGeom>
          <a:solidFill>
            <a:srgbClr val="1228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2679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n_neighbors=15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min_dist=0.1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285232" y="3017520"/>
            <a:ext cx="36576" cy="1371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3108960"/>
            <a:ext cx="1280160" cy="548640"/>
          </a:xfrm>
          <a:prstGeom prst="rect">
            <a:avLst/>
          </a:prstGeom>
          <a:solidFill>
            <a:srgbClr val="122840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projeté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285232" y="3703320"/>
            <a:ext cx="36576" cy="137160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3794760"/>
            <a:ext cx="1280160" cy="548640"/>
          </a:xfrm>
          <a:prstGeom prst="rect">
            <a:avLst/>
          </a:prstGeom>
          <a:solidFill>
            <a:srgbClr val="12284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00600" y="4050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09360" y="1691640"/>
            <a:ext cx="2560320" cy="2240280"/>
          </a:xfrm>
          <a:prstGeom prst="rect">
            <a:avLst/>
          </a:prstGeom>
          <a:solidFill>
            <a:srgbClr val="1228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UMAP (Dataset Digits)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K-Means brut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046720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post-UMAP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046720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0.850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64D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46720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0080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2D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46720" y="3337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~0.65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636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UMAP : NLP embeddings Word2Vec · Deep Learning latent · Images haute résolution encodées (ResNet)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COMPARAISON GLOBALE — Dataset Iris Normalisé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24612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822960"/>
                <a:gridCol w="1097280"/>
                <a:gridCol w="4114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détecté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 rapide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K-Medians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 outliers L1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A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 Ward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A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~0.48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Meilleur silhouette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 full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probabiliste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Formes complexes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 bruit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Densités variables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Affinity Prop.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auto (sur-segmente)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1148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DE SÉLECTION RAPIDE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4434840"/>
            <a:ext cx="2011680" cy="594360"/>
          </a:xfrm>
          <a:prstGeom prst="rect">
            <a:avLst/>
          </a:prstGeom>
          <a:solidFill>
            <a:srgbClr val="122840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453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connu + sphériques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432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23160" y="4434840"/>
            <a:ext cx="2011680" cy="594360"/>
          </a:xfrm>
          <a:prstGeom prst="rect">
            <a:avLst/>
          </a:prstGeom>
          <a:solidFill>
            <a:srgbClr val="1228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23160" y="4453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connu + outliers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2316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K-Medoids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0" y="4434840"/>
            <a:ext cx="2011680" cy="594360"/>
          </a:xfrm>
          <a:prstGeom prst="rect">
            <a:avLst/>
          </a:prstGeom>
          <a:solidFill>
            <a:srgbClr val="122840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4453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inconnu + bruit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20840" y="4434840"/>
            <a:ext cx="2011680" cy="594360"/>
          </a:xfrm>
          <a:prstGeom prst="rect">
            <a:avLst/>
          </a:prstGeom>
          <a:solidFill>
            <a:srgbClr val="12284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4453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dimension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2084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+ K-Means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MATRICE EXPERT &amp; CONCLUSION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292608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645920"/>
                <a:gridCol w="1645920"/>
                <a:gridCol w="26517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A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A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A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A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A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requis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Faible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Sphérique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Excellent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K-Medoids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Haute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Aléatoire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Complexe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Arbitraire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(ε)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HDBSCAN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Densité mixte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 Ward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Modérée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Hiérarchique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O(N³)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Post-tree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Modérée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Ellipsoïde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UMAP+K-M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N'importe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Excellent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Oui/Non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794760"/>
            <a:ext cx="8595360" cy="1170432"/>
          </a:xfrm>
          <a:prstGeom prst="rect">
            <a:avLst/>
          </a:prstGeom>
          <a:solidFill>
            <a:srgbClr val="122840"/>
          </a:solidFill>
          <a:ln w="25400">
            <a:solidFill>
              <a:srgbClr val="21AFA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3794760"/>
            <a:ext cx="109728" cy="1170432"/>
          </a:xfrm>
          <a:prstGeom prst="rect">
            <a:avLst/>
          </a:prstGeom>
          <a:solidFill>
            <a:srgbClr val="21AFAA"/>
          </a:solidFill>
          <a:ln w="12700">
            <a:solidFill>
              <a:srgbClr val="21AF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840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FINALE DE L'EXPERT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41330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</a:t>
            </a:r>
            <a:pPr indent="0" marL="0">
              <a:buNone/>
            </a:pPr>
            <a:r>
              <a:rPr lang="en-US" sz="10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triomphe sur données non-vectorisables pures.  </a:t>
            </a:r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+ HDBSCAN </a:t>
            </a:r>
            <a:pPr indent="0" marL="0">
              <a:buNone/>
            </a:pPr>
            <a:r>
              <a:rPr lang="en-US" sz="10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protocole standard en NLP/CV haute dimension.  </a:t>
            </a:r>
            <a:pPr indent="0" marL="0">
              <a:buNone/>
            </a:pPr>
            <a:r>
              <a:rPr lang="en-US" sz="10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</a:t>
            </a:r>
            <a:pPr indent="0" marL="0">
              <a:buNone/>
            </a:pPr>
            <a:r>
              <a:rPr lang="en-US" sz="105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le roi du prototypage rapide (MVP analytique).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Algorithmes de Clustering — Analyse Expert</dc:title>
  <dc:subject>PptxGenJS Presentation</dc:subject>
  <dc:creator>Data Science Report — Mars 2026</dc:creator>
  <cp:lastModifiedBy>Data Science Report — Mars 2026</cp:lastModifiedBy>
  <cp:revision>1</cp:revision>
  <dcterms:created xsi:type="dcterms:W3CDTF">2026-03-17T13:33:12Z</dcterms:created>
  <dcterms:modified xsi:type="dcterms:W3CDTF">2026-03-17T13:33:12Z</dcterms:modified>
</cp:coreProperties>
</file>